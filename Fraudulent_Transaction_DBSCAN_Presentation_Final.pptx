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68" r:id="rId17"/>
    <p:sldId id="259" r:id="rId5"/>
    <p:sldId id="260" r:id="rId6"/>
    <p:sldId id="261" r:id="rId7"/>
    <p:sldId id="263" r:id="rId8"/>
    <p:sldId id="264" r:id="rId9"/>
    <p:sldId id="265" r:id="rId10"/>
    <p:sldId id="266" r:id="rId11"/>
    <p:sldId id="269" r:id="rId18"/>
    <p:sldId id="270" r:id="rId19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7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4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4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373" y="720869"/>
            <a:ext cx="749807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Fraudulent Transaction</a:t>
            </a:r>
          </a:p>
          <a:p>
            <a:pPr>
              <a:defRPr sz="3100" b="1">
                <a:solidFill>
                  <a:srgbClr val="2B6CB0"/>
                </a:solidFill>
                <a:latin typeface="Aptos Display"/>
              </a:defRPr>
            </a:pPr>
            <a:r>
              <a:rPr dirty="0"/>
              <a:t>Clustering Using DBSCAN-Based</a:t>
            </a:r>
          </a:p>
          <a:p>
            <a:pPr>
              <a:defRPr sz="3100" b="1">
                <a:solidFill>
                  <a:srgbClr val="2B6CB0"/>
                </a:solidFill>
                <a:latin typeface="Aptos Display"/>
              </a:defRPr>
            </a:pPr>
            <a:r>
              <a:rPr dirty="0"/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" y="6062472"/>
            <a:ext cx="6858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Machine Learning • Unsupervised Anomaly Detection • Research-Based Implementation</a:t>
            </a:r>
          </a:p>
        </p:txBody>
      </p:sp>
      <p:sp>
        <p:nvSpPr>
          <p:cNvPr id="5" name="Oval 4"/>
          <p:cNvSpPr/>
          <p:nvPr/>
        </p:nvSpPr>
        <p:spPr>
          <a:xfrm>
            <a:off x="8549640" y="182880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509760" y="246888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87000" y="1783080"/>
            <a:ext cx="384048" cy="384048"/>
          </a:xfrm>
          <a:prstGeom prst="ellipse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3794760"/>
            <a:ext cx="384048" cy="384048"/>
          </a:xfrm>
          <a:prstGeom prst="ellipse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641080" y="2743200"/>
            <a:ext cx="1920240" cy="1920240"/>
          </a:xfrm>
          <a:prstGeom prst="ellipse">
            <a:avLst/>
          </a:prstGeom>
          <a:noFill/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5400" y="33375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 b="1">
                <a:solidFill>
                  <a:srgbClr val="192A46"/>
                </a:solidFill>
              </a:defRPr>
            </a:pPr>
            <a:r>
              <a:t>DBSCAN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</a:t>
            </a:r>
          </a:p>
        </p:txBody>
      </p:sp>
      <p:sp>
        <p:nvSpPr>
          <p:cNvPr id="13" name="Rounded Rectangle 3">
            <a:extLst>
              <a:ext uri="{FF2B5EF4-FFF2-40B4-BE49-F238E27FC236}">
                <a16:creationId xmlns:a16="http://schemas.microsoft.com/office/drawing/2014/main" id="{40848D61-15A4-F7D5-A303-EEE53ADDDF6A}"/>
              </a:ext>
            </a:extLst>
          </p:cNvPr>
          <p:cNvSpPr/>
          <p:nvPr/>
        </p:nvSpPr>
        <p:spPr>
          <a:xfrm>
            <a:off x="674561" y="3124235"/>
            <a:ext cx="3224199" cy="2673666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TEAM MEMBERS 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NAME : M. VIGNESH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ROLL NO : 2520030065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NAME : V.KARTHIK     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        ROLL NO : 2520030053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2</a:t>
            </a:r>
          </a:p>
        </p:txBody>
      </p:sp>
      <p:sp>
        <p:nvSpPr>
          <p:cNvPr id="7" name="Rounded Rectangle 3">
            <a:extLst>
              <a:ext uri="{FF2B5EF4-FFF2-40B4-BE49-F238E27FC236}">
                <a16:creationId xmlns:a16="http://schemas.microsoft.com/office/drawing/2014/main" id="{439C2A75-9FF8-E6EB-55E5-15B33E5F45A6}"/>
              </a:ext>
            </a:extLst>
          </p:cNvPr>
          <p:cNvSpPr/>
          <p:nvPr/>
        </p:nvSpPr>
        <p:spPr>
          <a:xfrm>
            <a:off x="822960" y="1335024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Digital payments and online banking generate a large number of transactions every day.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Fraudulent activity can appear as unusual amounts, locations, times or account behavior.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Traditional expert/rule-based systems depend on predefined conditions and fraud expertise.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Such approaches can be difficult to adapt when previously unseen patterns occur.</a:t>
            </a:r>
          </a:p>
          <a:p>
            <a:pPr>
              <a:lnSpc>
                <a:spcPct val="108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Motivated by Kim &amp; Vasarhelyi (2024), our project uses DBSCAN to group similar transactions and highlight observations that do not fit dense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Research basis: Kim &amp; Vasarhelyi (2024), International Journal of Digital Accounting Research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Abstract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81912"/>
            <a:ext cx="10287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Project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075688"/>
            <a:ext cx="98298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>
                <a:solidFill>
                  <a:srgbClr val="2D3741"/>
                </a:solidFill>
              </a:rPr>
              <a:t>Fraudulent transactions are difficult to detect because fraud patterns can change and many transactions are unlabeled.</a:t>
            </a:r>
            <a:br/>
            <a:br/>
            <a:r>
              <a:rPr sz="1800">
                <a:solidFill>
                  <a:srgbClr val="2D3741"/>
                </a:solidFill>
              </a:rPr>
              <a:t>This project uses DBSCAN, an unsupervised clustering algorithm, to group transactions with similar behavior and identify unusual transactions as anomalies.</a:t>
            </a:r>
            <a:br/>
            <a:br/>
            <a:r>
              <a:rPr sz="1800">
                <a:solidFill>
                  <a:srgbClr val="2D3741"/>
                </a:solidFill>
              </a:rPr>
              <a:t>Transaction amount, time, frequency, location distance, device change, login attempts and spending deviation are analyzed.</a:t>
            </a:r>
            <a:br/>
            <a:br/>
            <a:r>
              <a:rPr sz="1800">
                <a:solidFill>
                  <a:srgbClr val="2D3741"/>
                </a:solidFill>
              </a:rPr>
              <a:t>DBSCAN noise points are flagged as potential fraud for further investigation.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1800">
                <a:solidFill>
                  <a:srgbClr val="2D3741"/>
                </a:solidFill>
              </a:rPr>
              <a:t>Research basis: Kim &amp; Vasarhelyi (2024) propose DBSCAN-based clustering to detect potentially fraudulent wire transfers by identifying anomalies outside major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Primary reference: Kim, Y. &amp; Vasarhelyi, M.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Research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Primary reference used to frame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55063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Primary Research Paper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414B55"/>
                </a:solidFill>
              </a:defRPr>
            </a:pPr>
            <a:r>
              <a:rPr sz="1180">
                <a:solidFill>
                  <a:srgbClr val="2D3741"/>
                </a:solidFill>
              </a:rPr>
              <a:t>Kim, Y. &amp; Vasarhelyi, M. (2024)</a:t>
            </a:r>
            <a:br/>
            <a:r>
              <a:rPr sz="1180">
                <a:solidFill>
                  <a:srgbClr val="2D3741"/>
                </a:solidFill>
              </a:rPr>
              <a:t>“Anomaly detection with the density based spatial clustering of applications with noise (DBSCAN) to detect potentially fraudulent wire transfers.”</a:t>
            </a:r>
            <a:br/>
            <a:r>
              <a:rPr sz="1180">
                <a:solidFill>
                  <a:srgbClr val="2D3741"/>
                </a:solidFill>
              </a:rPr>
              <a:t>International Journal of Digital Accounting Research, 24, 57–91.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50876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150876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655063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What the paper proposes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203911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A clustering-based anomaly-detection model using DBSCAN to identify potentially fraudulent wire transfers and uncover hidden characteristics of unusual transactions with less reliance on expert intervention.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24612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24612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92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Core idea adopted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77647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Transactions with similar characteristics form dense groups; observations excluded from major clusters can be investigated as potential anomalies.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3246120"/>
            <a:ext cx="4572000" cy="15087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3246120"/>
            <a:ext cx="54864" cy="15087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0" y="33924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Our adaptation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76472"/>
            <a:ext cx="422452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250">
                <a:solidFill>
                  <a:srgbClr val="2D3741"/>
                </a:solidFill>
              </a:rPr>
              <a:t>We apply the same DBSCAN-based anomaly-detection principle to our transaction dataset, using selected behavioral features, scaling, clustering, noise identification, and post-hoc fraud-label evaluation.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DOI: 10.4192/1577-8517-v24_3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Common approaches used for transaction fraud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356616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Rule-Based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3017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Uses predefined rules such as: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Very high amount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Unusual location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Multiple failed attempts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 fixed rules may miss new fraud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3566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Supervised 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5996" y="1956566"/>
            <a:ext cx="288839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Learns from labeled normal/fraud examples.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Needs reliable labeled data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New fraud patterns may be difficult to learn quickly.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429000" cy="356616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73152" cy="3566160"/>
          </a:xfrm>
          <a:prstGeom prst="rect">
            <a:avLst/>
          </a:prstGeom>
          <a:solidFill>
            <a:srgbClr val="5F6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581912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Manual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1" y="2145595"/>
            <a:ext cx="30175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Suspicious transactions are checked by people.</a:t>
            </a:r>
            <a:br>
              <a:rPr sz="2000" dirty="0"/>
            </a:b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Limitation: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Time-consuming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Difficult at large scale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Review can be delayed.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200"/>
              </a:spcAft>
            </a:pPr>
            <a:r>
              <a:rPr sz="1600">
                <a:solidFill>
                  <a:srgbClr val="2D3741"/>
                </a:solidFill>
              </a:rPr>
              <a:t>Research motivation: a data-driven method that can identify unusual transaction behavior without depending only on predefined fraud rules.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Motivation aligned with Kim &amp; Vasarhelyi (2024)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Algorithm —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Density-Based Spatial Clustering of Applications with Noise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43891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715" y="1901952"/>
            <a:ext cx="284820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  <a:spcAft>
                <a:spcPts val="6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50" dirty="0">
                <a:solidFill>
                  <a:srgbClr val="2D3741"/>
                </a:solidFill>
              </a:rPr>
              <a:t>DBSCAN groups data points that are close together in a dense region.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It does not require the number of clusters in advance.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Isolated points can be labeled as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4389120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Key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2368" y="1984248"/>
            <a:ext cx="288287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50" dirty="0">
                <a:solidFill>
                  <a:srgbClr val="2D3741"/>
                </a:solidFill>
              </a:rPr>
              <a:t>eps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Neighborhood radius</a:t>
            </a:r>
            <a:br>
              <a:rPr sz="2000" dirty="0"/>
            </a:br>
            <a:br>
              <a:rPr sz="2000" dirty="0"/>
            </a:br>
            <a:r>
              <a:rPr sz="1750" dirty="0" err="1">
                <a:solidFill>
                  <a:srgbClr val="2D3741"/>
                </a:solidFill>
              </a:rPr>
              <a:t>min_samples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Minimum nearby points needed for a dense region</a:t>
            </a:r>
            <a:br>
              <a:rPr sz="2000" dirty="0"/>
            </a:b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Label -1</a:t>
            </a:r>
            <a:br>
              <a:rPr sz="2000" dirty="0"/>
            </a:br>
            <a:r>
              <a:rPr sz="1750" dirty="0">
                <a:solidFill>
                  <a:srgbClr val="2D3741"/>
                </a:solidFill>
              </a:rPr>
              <a:t>→ Noise / outlier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832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4389120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Research Connection &amp; Our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898648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Paper principle: dense groups represent similar observations.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Our implementation: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Dense group of similar transactions → cluster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Isolated / unusual transaction → DBSCAN noise (-1)</a:t>
            </a:r>
          </a:p>
          <a:p>
            <a:pPr>
              <a:lnSpc>
                <a:spcPct val="103000"/>
              </a:lnSpc>
              <a:spcAft>
                <a:spcPts val="400"/>
              </a:spcAft>
            </a:pPr>
          </a:p>
          <a:p>
            <a:pPr>
              <a:lnSpc>
                <a:spcPct val="103000"/>
              </a:lnSpc>
              <a:spcAft>
                <a:spcPts val="400"/>
              </a:spcAft>
            </a:pPr>
            <a:r>
              <a:rPr sz="1350">
                <a:solidFill>
                  <a:srgbClr val="2D3741"/>
                </a:solidFill>
              </a:rPr>
              <a:t>Noise → potential fraud for investigation, not confirmed fraud.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DBSCAN principle adapted from Kim &amp; Vasarhelyi (2024)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89474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877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DBSCAN-based fraudulent transaction anomaly detection — adapted from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7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3058079B-08D7-26A6-721D-35793C2AA3CF}"/>
              </a:ext>
            </a:extLst>
          </p:cNvPr>
          <p:cNvSpPr/>
          <p:nvPr/>
        </p:nvSpPr>
        <p:spPr>
          <a:xfrm>
            <a:off x="746607" y="1696310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Use transaction behavior to detect anomalies, following the paper’s clustering-based approach.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Clean and prepare the raw transaction dataset.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Select meaningful numerical features and scale them before clustering.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Apply DBSCAN to discover dense groups of similar transactions and identify observations outside major clusters.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Flag DBSCAN noise points (label -1) as potential anomalies for fraud investigation.</a:t>
            </a:r>
          </a:p>
          <a:p>
            <a:pPr>
              <a:lnSpc>
                <a:spcPct val="108000"/>
              </a:lnSpc>
              <a:spcAft>
                <a:spcPts val="600"/>
              </a:spcAft>
            </a:pPr>
            <a:r>
              <a:rPr sz="1800">
                <a:solidFill>
                  <a:srgbClr val="2D3741"/>
                </a:solidFill>
              </a:rPr>
              <a:t>Generate a fraud report and visualization for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Adaptation of the DBSCAN anomaly-detection framework; dataset and features are project-specific.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A77"/>
                </a:solidFill>
              </a:defRPr>
            </a:pPr>
            <a:r>
              <a:t>End-to-end processing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Raw Transaction</a:t>
            </a:r>
            <a:br/>
            <a:r>
              <a:t>Dataset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84248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350008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Data Cleaning &amp;</a:t>
            </a:r>
            <a:br/>
            <a:r>
              <a:t>Preprocessing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22776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88536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Feature Selection</a:t>
            </a:r>
            <a:br/>
            <a:r>
              <a:t>&amp; Scaling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61304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27064" y="2423160"/>
            <a:ext cx="155448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DBSCAN</a:t>
            </a:r>
            <a:br/>
            <a:r>
              <a:t>Clustering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9832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65592" y="2423160"/>
            <a:ext cx="1554480" cy="1143000"/>
          </a:xfrm>
          <a:prstGeom prst="roundRect">
            <a:avLst/>
          </a:prstGeom>
          <a:solidFill>
            <a:srgbClr val="FCF1F1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rPr lang="en-IN" sz="1500" b="1" dirty="0">
                <a:solidFill>
                  <a:srgbClr val="192A46"/>
                </a:solidFill>
              </a:rPr>
              <a:t>Identify Noise Points</a:t>
            </a:r>
          </a:p>
          <a:p>
            <a:pPr algn="ctr">
              <a:defRPr sz="1500" b="1">
                <a:solidFill>
                  <a:srgbClr val="192A46"/>
                </a:solidFill>
              </a:defRPr>
            </a:pPr>
            <a:r>
              <a:rPr lang="en-IN" sz="1500" b="1" dirty="0">
                <a:solidFill>
                  <a:srgbClr val="192A46"/>
                </a:solidFill>
              </a:rPr>
              <a:t>(Label = -1)</a:t>
            </a:r>
            <a:endParaRPr dirty="0"/>
          </a:p>
        </p:txBody>
      </p:sp>
      <p:sp>
        <p:nvSpPr>
          <p:cNvPr id="14" name="Right Arrow 13"/>
          <p:cNvSpPr/>
          <p:nvPr/>
        </p:nvSpPr>
        <p:spPr>
          <a:xfrm>
            <a:off x="9738360" y="2770632"/>
            <a:ext cx="347472" cy="411480"/>
          </a:xfrm>
          <a:prstGeom prst="rightArrow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0104120" y="2423160"/>
            <a:ext cx="1554480" cy="1143000"/>
          </a:xfrm>
          <a:prstGeom prst="roundRect">
            <a:avLst/>
          </a:prstGeom>
          <a:solidFill>
            <a:srgbClr val="FCF1F1"/>
          </a:solidFill>
          <a:ln>
            <a:solidFill>
              <a:srgbClr val="BE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2A46"/>
                </a:solidFill>
              </a:defRPr>
            </a:pPr>
            <a:r>
              <a:t>Potential Fraud</a:t>
            </a:r>
            <a:br/>
            <a:r>
              <a:t>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51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900" b="1">
                <a:solidFill>
                  <a:srgbClr val="192A46"/>
                </a:solidFill>
              </a:defRPr>
            </a:pPr>
            <a:r>
              <a:rPr sz="1700" b="1">
                <a:solidFill>
                  <a:srgbClr val="1C3255"/>
                </a:solidFill>
              </a:rPr>
              <a:t>Normal transactions → dense clusters     |     Unusual transactions → noise (-1) → potential fraud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Project workflow based on the DBSCAN clustering/anomaly-detection principle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Implementation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08158" y="1327890"/>
            <a:ext cx="3383280" cy="382691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 flipH="1">
            <a:off x="685801" y="1325880"/>
            <a:ext cx="45719" cy="3738489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1. Prepare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84248"/>
            <a:ext cx="27879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  <a:defRPr sz="1400">
                <a:solidFill>
                  <a:srgbClr val="232B34"/>
                </a:solidFill>
                <a:latin typeface="Aptos"/>
              </a:defRPr>
            </a:pPr>
            <a:r>
              <a:rPr sz="1700" dirty="0">
                <a:solidFill>
                  <a:srgbClr val="2D3741"/>
                </a:solidFill>
              </a:rPr>
              <a:t>• Load CSV using Pandas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Handle missing values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Select relevant numerical features</a:t>
            </a:r>
            <a:br>
              <a:rPr sz="2000" dirty="0"/>
            </a:br>
            <a:r>
              <a:rPr sz="1700" dirty="0">
                <a:solidFill>
                  <a:srgbClr val="2D3741"/>
                </a:solidFill>
              </a:rPr>
              <a:t>• Standardize features using </a:t>
            </a:r>
            <a:r>
              <a:rPr sz="1700" dirty="0" err="1">
                <a:solidFill>
                  <a:srgbClr val="2D3741"/>
                </a:solidFill>
              </a:rPr>
              <a:t>StandardScaler</a:t>
            </a:r>
            <a:endParaRPr sz="2000" dirty="0"/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49170" cy="382892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738489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2. Run DBSCAN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5039" y="1984247"/>
            <a:ext cx="262161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Select eps and min_samples based on the dataset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Fit DBSCAN on scaled features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Obtain cluster labels</a:t>
            </a:r>
          </a:p>
          <a:p>
            <a:pPr>
              <a:lnSpc>
                <a:spcPct val="102000"/>
              </a:lnSpc>
              <a:spcAft>
                <a:spcPts val="400"/>
              </a:spcAft>
            </a:pPr>
            <a:r>
              <a:rPr sz="1550">
                <a:solidFill>
                  <a:srgbClr val="2D3741"/>
                </a:solidFill>
              </a:rPr>
              <a:t>• Label -1 represents noise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249170" cy="3828924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45719" cy="3738489"/>
          </a:xfrm>
          <a:prstGeom prst="rect">
            <a:avLst/>
          </a:prstGeom>
          <a:solidFill>
            <a:srgbClr val="BE3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1490472"/>
            <a:ext cx="2971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3. Analyze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4482" y="1984248"/>
            <a:ext cx="268224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600">
                <a:solidFill>
                  <a:srgbClr val="2D3741"/>
                </a:solidFill>
              </a:rPr>
              <a:t>• Separate normal and noise points</a:t>
            </a:r>
            <a:br/>
            <a:r>
              <a:rPr sz="1600">
                <a:solidFill>
                  <a:srgbClr val="2D3741"/>
                </a:solidFill>
              </a:rPr>
              <a:t>• Compare with Fraud_Label only after clustering for evaluation</a:t>
            </a:r>
            <a:br/>
            <a:r>
              <a:rPr sz="1600">
                <a:solidFill>
                  <a:srgbClr val="2D3741"/>
                </a:solidFill>
              </a:rPr>
              <a:t>• Save suspicious transactions</a:t>
            </a:r>
            <a:br/>
            <a:r>
              <a:rPr sz="1600">
                <a:solidFill>
                  <a:srgbClr val="2D3741"/>
                </a:solidFill>
              </a:rPr>
              <a:t>• Plot clusters and anomalies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Important: fraud labels are used for evaluation, not as DBSCAN training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t>Expected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3859069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45719" cy="393945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9047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t>Detection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5998" y="2066544"/>
            <a:ext cx="412434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700">
                <a:solidFill>
                  <a:srgbClr val="2D3741"/>
                </a:solidFill>
              </a:rPr>
              <a:t>The system produces:</a:t>
            </a:r>
            <a:br/>
            <a:r>
              <a:rPr sz="1700">
                <a:solidFill>
                  <a:srgbClr val="2D3741"/>
                </a:solidFill>
              </a:rPr>
              <a:t>• DBSCAN cluster number for each transaction</a:t>
            </a:r>
            <a:br/>
            <a:r>
              <a:rPr sz="1700">
                <a:solidFill>
                  <a:srgbClr val="2D3741"/>
                </a:solidFill>
              </a:rPr>
              <a:t>• Noise label (-1) for anomalies</a:t>
            </a:r>
            <a:br/>
            <a:r>
              <a:rPr sz="1700">
                <a:solidFill>
                  <a:srgbClr val="2D3741"/>
                </a:solidFill>
              </a:rPr>
              <a:t>• Potential anomaly / fraud status</a:t>
            </a:r>
            <a:br/>
            <a:r>
              <a:rPr sz="1700">
                <a:solidFill>
                  <a:srgbClr val="2D3741"/>
                </a:solidFill>
              </a:rPr>
              <a:t>• Count of normal and suspicious transactions</a:t>
            </a:r>
            <a:br/>
            <a:r>
              <a:rPr sz="1700">
                <a:solidFill>
                  <a:srgbClr val="2D3741"/>
                </a:solidFill>
              </a:rPr>
              <a:t>• CSV fraud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280160"/>
            <a:ext cx="4892041" cy="3985176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63640" y="1325880"/>
            <a:ext cx="91440" cy="3985176"/>
          </a:xfrm>
          <a:prstGeom prst="rect">
            <a:avLst/>
          </a:prstGeom>
          <a:solidFill>
            <a:srgbClr val="2F7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154076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Visualization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4164" y="2439806"/>
            <a:ext cx="45286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500"/>
              </a:spcAft>
            </a:pPr>
            <a:r>
              <a:rPr sz="1700">
                <a:solidFill>
                  <a:srgbClr val="2D3741"/>
                </a:solidFill>
              </a:rPr>
              <a:t>A cluster plot helps show:</a:t>
            </a:r>
            <a:br/>
            <a:r>
              <a:rPr sz="1700">
                <a:solidFill>
                  <a:srgbClr val="2D3741"/>
                </a:solidFill>
              </a:rPr>
              <a:t>• Dense groups of normal behavior</a:t>
            </a:r>
            <a:br/>
            <a:r>
              <a:rPr sz="1700">
                <a:solidFill>
                  <a:srgbClr val="2D3741"/>
                </a:solidFill>
              </a:rPr>
              <a:t>• Isolated anomalous transactions</a:t>
            </a:r>
            <a:br/>
            <a:r>
              <a:rPr sz="1700">
                <a:solidFill>
                  <a:srgbClr val="2D3741"/>
                </a:solidFill>
              </a:rPr>
              <a:t>• Separation between clusters</a:t>
            </a:r>
            <a:br/>
            <a:r>
              <a:rPr sz="1700">
                <a:solidFill>
                  <a:srgbClr val="2D3741"/>
                </a:solidFill>
              </a:rPr>
              <a:t>• Potential anomaly points for investigation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DBSCAN noise indicates an anomaly; it does not by itself prove fraud.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5893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92A46"/>
                </a:solidFill>
                <a:latin typeface="Aptos Display"/>
              </a:defRPr>
            </a:pPr>
            <a:r>
              <a:rPr dirty="0"/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3483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2B6CB0"/>
                </a:solidFill>
              </a:defRPr>
            </a:pPr>
            <a:r>
              <a:rPr dirty="0" sz="1800" b="1">
                <a:solidFill>
                  <a:srgbClr val="2A69B4"/>
                </a:solidFill>
              </a:rPr>
              <a:t>Goal: detect suspicious behavior early and support secure digital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11</a:t>
            </a:r>
          </a:p>
        </p:txBody>
      </p:sp>
      <p:sp>
        <p:nvSpPr>
          <p:cNvPr id="8" name="Rounded Rectangle 3">
            <a:extLst>
              <a:ext uri="{FF2B5EF4-FFF2-40B4-BE49-F238E27FC236}">
                <a16:creationId xmlns:a16="http://schemas.microsoft.com/office/drawing/2014/main" id="{DCF88BD4-916F-A806-D45F-8994E4CA5336}"/>
              </a:ext>
            </a:extLst>
          </p:cNvPr>
          <p:cNvSpPr/>
          <p:nvPr/>
        </p:nvSpPr>
        <p:spPr>
          <a:xfrm>
            <a:off x="746607" y="1391849"/>
            <a:ext cx="10698480" cy="4389120"/>
          </a:xfrm>
          <a:prstGeom prst="roundRect">
            <a:avLst/>
          </a:prstGeom>
          <a:solidFill>
            <a:srgbClr val="F2F6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DBSCAN provides an unsupervised approach for finding unusual transaction behavior.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It can identify isolated transactions without requiring fraud labels during clustering.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The combination of behavioral features improves the ability to detect suspicious patterns.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Fraud labels, when available, can be used after detection to evaluate the results.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900">
                <a:solidFill>
                  <a:srgbClr val="2D3741"/>
                </a:solidFill>
              </a:rPr>
              <a:t>The research-inspired system can support fraud investigation by surfacing unusual transactions for further review.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Conclusion: research principle retained; project implementation is dataset-specific.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Research Reference → Our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What we adopted and what we 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5720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54864" cy="35661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636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Kim &amp; Vasarhelyi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47672"/>
            <a:ext cx="42245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  <a:defRPr sz="1150">
                <a:solidFill>
                  <a:srgbClr val="414B55"/>
                </a:solidFill>
              </a:defRPr>
            </a:pPr>
            <a:r>
              <a:rPr sz="1500">
                <a:solidFill>
                  <a:srgbClr val="2D3741"/>
                </a:solidFill>
              </a:rPr>
              <a:t>• Domain: potentially fraudulent wire transfers</a:t>
            </a:r>
            <a:br/>
            <a:r>
              <a:rPr sz="1500">
                <a:solidFill>
                  <a:srgbClr val="2D3741"/>
                </a:solidFill>
              </a:rPr>
              <a:t>• Method: DBSCAN-based clustering</a:t>
            </a:r>
            <a:br/>
            <a:r>
              <a:rPr sz="1500">
                <a:solidFill>
                  <a:srgbClr val="2D3741"/>
                </a:solidFill>
              </a:rPr>
              <a:t>• Focus: hidden characteristics of potentially fraudulent transfers</a:t>
            </a:r>
            <a:br/>
            <a:r>
              <a:rPr sz="1500">
                <a:solidFill>
                  <a:srgbClr val="2D3741"/>
                </a:solidFill>
              </a:rPr>
              <a:t>• Anomalies identified as observations outside major clusters</a:t>
            </a:r>
            <a:br/>
            <a:r>
              <a:rPr sz="1500">
                <a:solidFill>
                  <a:srgbClr val="2D3741"/>
                </a:solidFill>
              </a:rPr>
              <a:t>• Goal: reduce reliance on extensive expert intervention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417320"/>
            <a:ext cx="457200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32120" y="1417320"/>
            <a:ext cx="54864" cy="356616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15000" y="1563624"/>
            <a:ext cx="4251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1947672"/>
            <a:ext cx="422452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400"/>
              </a:spcAft>
              <a:defRPr sz="1150">
                <a:solidFill>
                  <a:srgbClr val="414B55"/>
                </a:solidFill>
              </a:defRPr>
            </a:pPr>
            <a:r>
              <a:rPr sz="1500">
                <a:solidFill>
                  <a:srgbClr val="2D3741"/>
                </a:solidFill>
              </a:rPr>
              <a:t>• Domain: transaction fraud/anomaly detection</a:t>
            </a:r>
            <a:br/>
            <a:r>
              <a:rPr sz="1500">
                <a:solidFill>
                  <a:srgbClr val="2D3741"/>
                </a:solidFill>
              </a:rPr>
              <a:t>• Method: DBSCAN</a:t>
            </a:r>
            <a:br/>
            <a:r>
              <a:rPr sz="1500">
                <a:solidFill>
                  <a:srgbClr val="2D3741"/>
                </a:solidFill>
              </a:rPr>
              <a:t>• Features: transaction and behavioral variables selected for our dataset</a:t>
            </a:r>
            <a:br/>
            <a:r>
              <a:rPr sz="1500">
                <a:solidFill>
                  <a:srgbClr val="2D3741"/>
                </a:solidFill>
              </a:rPr>
              <a:t>• Noise label (-1) treated as potential anomaly</a:t>
            </a:r>
            <a:br/>
            <a:r>
              <a:rPr sz="1500">
                <a:solidFill>
                  <a:srgbClr val="2D3741"/>
                </a:solidFill>
              </a:rPr>
              <a:t>• Fraud_Label used after clustering for evaluation</a:t>
            </a:r>
            <a:br/>
            <a:r>
              <a:rPr sz="1500">
                <a:solidFill>
                  <a:srgbClr val="2D3741"/>
                </a:solidFill>
              </a:rPr>
              <a:t>• Output: suspicious-transaction report and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This project is an implementation/adaptation inspired by the cited research, not a reproduction of the paper’s dataset or experiments.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11480"/>
            <a:ext cx="9418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2D3C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32688"/>
            <a:ext cx="9326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646E"/>
                </a:solidFill>
              </a:defRPr>
            </a:pPr>
            <a:r>
              <a:t>Primary research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0" y="4572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914400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54864" cy="182880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563624"/>
            <a:ext cx="8823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[1] Primary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47672"/>
            <a:ext cx="87965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350">
                <a:solidFill>
                  <a:srgbClr val="2D3741"/>
                </a:solidFill>
              </a:rPr>
              <a:t>Kim, Y., &amp; Vasarhelyi, M. (2024). Anomaly detection with the density based spatial clustering of applications with noise (DBSCAN) to detect potentially fraudulent wire transfers. International Journal of Digital Accounting Research, 24, 57–91.</a:t>
            </a:r>
            <a:br/>
            <a:r>
              <a:rPr sz="1350">
                <a:solidFill>
                  <a:srgbClr val="2D3741"/>
                </a:solidFill>
              </a:rPr>
              <a:t>DOI: 10.4192/1577-8517-v24_3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520440"/>
            <a:ext cx="914400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3520440"/>
            <a:ext cx="54864" cy="1143000"/>
          </a:xfrm>
          <a:prstGeom prst="rect">
            <a:avLst/>
          </a:prstGeom>
          <a:solidFill>
            <a:srgbClr val="375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666744"/>
            <a:ext cx="8823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33241"/>
                </a:solidFill>
              </a:defRPr>
            </a:pPr>
            <a:r>
              <a:t>How it supports our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50791"/>
            <a:ext cx="879652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3000"/>
              </a:lnSpc>
              <a:spcAft>
                <a:spcPts val="300"/>
              </a:spcAft>
              <a:defRPr sz="1150">
                <a:solidFill>
                  <a:srgbClr val="414B55"/>
                </a:solidFill>
              </a:defRPr>
            </a:pPr>
            <a:r>
              <a:rPr sz="1350">
                <a:solidFill>
                  <a:srgbClr val="2D3741"/>
                </a:solidFill>
              </a:rPr>
              <a:t>The paper provides the research basis for using DBSCAN as a density-based anomaly-detection method in a financial fraud context. Our implementation adapts this principle to our transaction dataset and feature set.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28232"/>
            <a:ext cx="4297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  <a:defRPr sz="800">
                <a:solidFill>
                  <a:srgbClr val="5F5F5F"/>
                </a:solidFill>
              </a:defRPr>
            </a:pPr>
            <a:r>
              <a:rPr sz="850">
                <a:solidFill>
                  <a:srgbClr val="5A646E"/>
                </a:solidFill>
              </a:rPr>
              <a:t>Reference verified from Rutgers Research Portal and International Journal of Digital Accounting Research (2024).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92A46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83280"/>
            <a:ext cx="8503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>
                <a:solidFill>
                  <a:srgbClr val="2B6CB0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46E78"/>
                </a:solidFill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800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</dc:creator>
  <cp:keywords/>
  <dc:description>generated using python-pptx</dc:description>
  <cp:lastModifiedBy>Karthik vanka</cp:lastModifiedBy>
  <cp:revision>3</cp:revision>
  <dcterms:created xsi:type="dcterms:W3CDTF">2013-01-27T09:14:16Z</dcterms:created>
  <dcterms:modified xsi:type="dcterms:W3CDTF">2026-08-27T15:55:49Z</dcterms:modified>
  <cp:category/>
</cp:coreProperties>
</file>